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50F913-E1D4-4298-985A-3BEF3AA05B03}" v="296" dt="2026-10-07T06:20:32.8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u/3/folders/1h7po6C9BaP7nm4oYQ_sWZM2QsQHm7IGa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78992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KHULNA UNIVERSITY OF ENGINEERING &amp; TECHNOLOGY (KUET)</a:t>
            </a:r>
          </a:p>
          <a:p>
            <a:pPr>
              <a:defRPr sz="1400">
                <a:solidFill>
                  <a:srgbClr val="D2E6FA"/>
                </a:solidFill>
                <a:latin typeface="Calibri"/>
              </a:defRPr>
            </a:pPr>
            <a:r>
              <a:rPr dirty="0"/>
              <a:t>Department of Computer Science and Engineering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3510"/>
            <a:ext cx="10789920" cy="11387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3600" b="1">
                <a:solidFill>
                  <a:srgbClr val="1B3A5C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49000"/>
                  </a:schemeClr>
                </a:solidFill>
                <a:latin typeface="Arial"/>
                <a:cs typeface="Arial"/>
              </a:rPr>
              <a:t>3D Virtual Architectural Walkthrough:</a:t>
            </a:r>
            <a:endParaRPr lang="en-US">
              <a:solidFill>
                <a:schemeClr val="accent5">
                  <a:lumMod val="49000"/>
                </a:schemeClr>
              </a:solidFill>
              <a:latin typeface="Arial"/>
              <a:cs typeface="Arial"/>
            </a:endParaRPr>
          </a:p>
          <a:p>
            <a:pPr>
              <a:defRPr sz="3200" b="1">
                <a:solidFill>
                  <a:srgbClr val="1565A8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49000"/>
                  </a:schemeClr>
                </a:solidFill>
              </a:rPr>
              <a:t>Khan Jahan Ali Hall</a:t>
            </a:r>
            <a:r>
              <a:rPr lang="en-GB" dirty="0">
                <a:solidFill>
                  <a:schemeClr val="accent5">
                    <a:lumMod val="49000"/>
                  </a:schemeClr>
                </a:solidFill>
              </a:rPr>
              <a:t> Room</a:t>
            </a:r>
            <a:endParaRPr dirty="0">
              <a:solidFill>
                <a:schemeClr val="accent5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2973441"/>
            <a:ext cx="8412480" cy="530352"/>
          </a:xfrm>
          <a:prstGeom prst="rect">
            <a:avLst/>
          </a:prstGeom>
          <a:solidFill>
            <a:srgbClr val="EEF4FC"/>
          </a:solidFill>
          <a:ln w="17780">
            <a:solidFill>
              <a:srgbClr val="15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91440" rIns="91440" bIns="45720" rtlCol="0" anchor="ctr"/>
          <a:lstStyle/>
          <a:p>
            <a:pPr algn="ctr">
              <a:defRPr sz="1500" b="1">
                <a:solidFill>
                  <a:srgbClr val="1B3A5C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</a:rPr>
              <a:t>Course: CSE 4102  ·  Computer Graphics and Image Processing Laboratory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3886200"/>
            <a:ext cx="5257800" cy="2240280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4352" y="3995928"/>
            <a:ext cx="5624676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B3A5C"/>
                </a:solidFill>
                <a:latin typeface="Calibri"/>
              </a:defRPr>
            </a:pPr>
            <a:r>
              <a:t>SUBMITTED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4367606" cy="140038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100" b="1">
                <a:solidFill>
                  <a:srgbClr val="1565A8"/>
                </a:solidFill>
                <a:latin typeface="Calibri"/>
              </a:defRPr>
            </a:pPr>
            <a:r>
              <a:rPr dirty="0"/>
              <a:t>Mehedi Hasan Rabby</a:t>
            </a: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rPr sz="1600" dirty="0"/>
              <a:t>Roll: 2107086</a:t>
            </a:r>
            <a:endParaRPr sz="1600" dirty="0">
              <a:ea typeface="Calibri"/>
              <a:cs typeface="Calibri"/>
            </a:endParaRP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rPr sz="1600" dirty="0"/>
              <a:t>Year: 4th  ·  Term: 1st  ·  Session: 2024–25</a:t>
            </a:r>
            <a:endParaRPr sz="1600" dirty="0">
              <a:ea typeface="Calibri"/>
              <a:cs typeface="Calibri"/>
            </a:endParaRP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rPr sz="1600" dirty="0"/>
              <a:t>Department of Computer Science and Engineering</a:t>
            </a:r>
            <a:endParaRPr sz="1600" dirty="0">
              <a:ea typeface="Calibri"/>
              <a:cs typeface="Calibri"/>
            </a:endParaRP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rPr sz="1600" dirty="0"/>
              <a:t>Khulna University of Engineering &amp; Technology</a:t>
            </a:r>
            <a:endParaRPr sz="1600" dirty="0">
              <a:ea typeface="Calibri"/>
              <a:cs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7920" y="3886200"/>
            <a:ext cx="5257800" cy="2240280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97163" y="3995930"/>
            <a:ext cx="525100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 b="1">
                <a:solidFill>
                  <a:srgbClr val="1B3A5C"/>
                </a:solidFill>
                <a:latin typeface="Calibri"/>
              </a:defRPr>
            </a:pPr>
            <a:r>
              <a:rPr dirty="0"/>
              <a:t>SUPERVISED BY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92240" y="4389120"/>
            <a:ext cx="3201326" cy="106182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rPr dirty="0" err="1"/>
              <a:t>Mr</a:t>
            </a:r>
            <a:r>
              <a:rPr dirty="0"/>
              <a:t> Md. </a:t>
            </a:r>
            <a:r>
              <a:rPr dirty="0" err="1"/>
              <a:t>Tajmilur</a:t>
            </a:r>
            <a:r>
              <a:rPr dirty="0"/>
              <a:t> Rahman</a:t>
            </a:r>
            <a:endParaRPr lang="en-US">
              <a:ea typeface="Calibri"/>
              <a:cs typeface="Calibri"/>
            </a:endParaRPr>
          </a:p>
          <a:p>
            <a:pPr>
              <a:defRPr sz="1350">
                <a:solidFill>
                  <a:srgbClr val="505F6E"/>
                </a:solidFill>
                <a:latin typeface="Calibri"/>
              </a:defRPr>
            </a:pPr>
            <a:r>
              <a:rPr dirty="0"/>
              <a:t>Lecturer, Dept of CSE, KUET</a:t>
            </a:r>
            <a:endParaRPr>
              <a:ea typeface="Calibri"/>
              <a:cs typeface="Calibri"/>
            </a:endParaRPr>
          </a:p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rPr dirty="0" err="1"/>
              <a:t>Mr</a:t>
            </a:r>
            <a:r>
              <a:rPr dirty="0"/>
              <a:t> Md. Mubtashim Abrar Nihal</a:t>
            </a:r>
            <a:endParaRPr>
              <a:ea typeface="Calibri"/>
              <a:cs typeface="Calibri"/>
            </a:endParaRPr>
          </a:p>
          <a:p>
            <a:pPr>
              <a:defRPr sz="1350">
                <a:solidFill>
                  <a:srgbClr val="505F6E"/>
                </a:solidFill>
                <a:latin typeface="Calibri"/>
              </a:defRPr>
            </a:pPr>
            <a:r>
              <a:rPr dirty="0"/>
              <a:t>Lecturer, Dept of CSE, KUET</a:t>
            </a:r>
            <a:endParaRPr>
              <a:ea typeface="Calibri"/>
              <a:cs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94360" y="6446520"/>
            <a:ext cx="11002975" cy="18288"/>
          </a:xfrm>
          <a:prstGeom prst="rect">
            <a:avLst/>
          </a:prstGeom>
          <a:solidFill>
            <a:srgbClr val="B4C3D4"/>
          </a:solidFill>
          <a:ln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6492240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05F6E"/>
                </a:solidFill>
                <a:latin typeface="Calibri"/>
              </a:defRPr>
            </a:pPr>
            <a:r>
              <a:t>Dept of CSE, KUET  ·  October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92240"/>
            <a:ext cx="3657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505F6E"/>
                </a:solidFill>
                <a:latin typeface="Calibri"/>
              </a:defRPr>
            </a:pPr>
            <a:r>
              <a:t>CSE 4102: Computer Graphics &amp; Image Processing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92240"/>
            <a:ext cx="199613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565A8"/>
                </a:solidFill>
                <a:latin typeface="Calibri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050"/>
          </a:solidFill>
          <a:ln>
            <a:solidFill>
              <a:srgbClr val="14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80467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Presentation Outline</a:t>
            </a:r>
          </a:p>
          <a:p>
            <a:pPr>
              <a:defRPr sz="1350">
                <a:solidFill>
                  <a:srgbClr val="D2E6FA"/>
                </a:solidFill>
                <a:latin typeface="Calibri"/>
              </a:defRPr>
            </a:pPr>
            <a:r>
              <a:t>Core technical milestones and 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640080" cy="585216"/>
          </a:xfrm>
          <a:prstGeom prst="rect">
            <a:avLst/>
          </a:prstGeom>
          <a:solidFill>
            <a:srgbClr val="1565A8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1280160"/>
            <a:ext cx="10058400" cy="585216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73152" rIns="91440" bIns="45720" rtlCol="0" anchor="ctr"/>
          <a:lstStyle/>
          <a:p>
            <a:pPr algn="ctr">
              <a:defRPr sz="1600" b="1">
                <a:solidFill>
                  <a:srgbClr val="1B3A5C"/>
                </a:solidFill>
                <a:latin typeface="Calibri"/>
              </a:defRPr>
            </a:pPr>
            <a:r>
              <a:rPr dirty="0"/>
              <a:t>Introduction &amp; Architectural Scene</a:t>
            </a:r>
          </a:p>
          <a:p>
            <a:pPr>
              <a:defRPr sz="1250">
                <a:solidFill>
                  <a:srgbClr val="505F6E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</a:rPr>
              <a:t>Room collegiate dorm, hallway corridor, and campus sports complex layout</a:t>
            </a:r>
            <a:endParaRPr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975104"/>
            <a:ext cx="640080" cy="585216"/>
          </a:xfrm>
          <a:prstGeom prst="rect">
            <a:avLst/>
          </a:prstGeom>
          <a:solidFill>
            <a:srgbClr val="1B3A5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975104"/>
            <a:ext cx="10058400" cy="585216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73152" rIns="91440" bIns="45720" rtlCol="0" anchor="ctr"/>
          <a:lstStyle/>
          <a:p>
            <a:pPr algn="ctr">
              <a:defRPr sz="1600" b="1">
                <a:solidFill>
                  <a:srgbClr val="1B3A5C"/>
                </a:solidFill>
                <a:latin typeface="Calibri"/>
              </a:defRPr>
            </a:pPr>
            <a:r>
              <a:rPr dirty="0"/>
              <a:t>Procedural Primitive Computation</a:t>
            </a:r>
          </a:p>
          <a:p>
            <a:pPr>
              <a:defRPr sz="1250">
                <a:solidFill>
                  <a:srgbClr val="505F6E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Mathematical parametric formulas for Unit Cube, UV Sphere, and Capped Cylinder</a:t>
            </a:r>
            <a:endParaRPr>
              <a:solidFill>
                <a:schemeClr val="tx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5800" y="2670048"/>
            <a:ext cx="640080" cy="585216"/>
          </a:xfrm>
          <a:prstGeom prst="rect">
            <a:avLst/>
          </a:prstGeom>
          <a:solidFill>
            <a:srgbClr val="1565A8"/>
          </a:solidFill>
          <a:ln>
            <a:solidFill>
              <a:srgbClr val="15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2670048"/>
            <a:ext cx="10058400" cy="585216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73152" rIns="91440" bIns="45720" rtlCol="0" anchor="ctr"/>
          <a:lstStyle/>
          <a:p>
            <a:pPr algn="ctr">
              <a:defRPr sz="1600" b="1">
                <a:solidFill>
                  <a:srgbClr val="1B3A5C"/>
                </a:solidFill>
                <a:latin typeface="Calibri"/>
              </a:defRPr>
            </a:pPr>
            <a:r>
              <a:rPr dirty="0"/>
              <a:t>Transformations &amp; Camera Navigation</a:t>
            </a:r>
          </a:p>
          <a:p>
            <a:pPr>
              <a:defRPr sz="1250">
                <a:solidFill>
                  <a:srgbClr val="505F6E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Hierarchical Model-View-Projection pipeline and first-person portal navigation</a:t>
            </a:r>
            <a:endParaRPr>
              <a:solidFill>
                <a:schemeClr val="tx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5800" y="3364992"/>
            <a:ext cx="640080" cy="585216"/>
          </a:xfrm>
          <a:prstGeom prst="rect">
            <a:avLst/>
          </a:prstGeom>
          <a:solidFill>
            <a:srgbClr val="1B3A5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364992"/>
            <a:ext cx="10058400" cy="585216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73152" rIns="91440" bIns="45720" rtlCol="0" anchor="ctr"/>
          <a:lstStyle/>
          <a:p>
            <a:pPr algn="ctr">
              <a:defRPr sz="1600" b="1">
                <a:solidFill>
                  <a:srgbClr val="1B3A5C"/>
                </a:solidFill>
                <a:latin typeface="Calibri"/>
              </a:defRPr>
            </a:pPr>
            <a:r>
              <a:rPr dirty="0"/>
              <a:t>Multi-Source Illumination Model</a:t>
            </a:r>
          </a:p>
          <a:p>
            <a:pPr>
              <a:defRPr sz="1250">
                <a:solidFill>
                  <a:srgbClr val="505F6E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Vector Phong reflection equations, 6 distance-attenuated point lights, and sun</a:t>
            </a:r>
            <a:endParaRPr>
              <a:solidFill>
                <a:schemeClr val="tx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800" y="4059935"/>
            <a:ext cx="640080" cy="585216"/>
          </a:xfrm>
          <a:prstGeom prst="rect">
            <a:avLst/>
          </a:prstGeom>
          <a:solidFill>
            <a:srgbClr val="1565A8"/>
          </a:solidFill>
          <a:ln>
            <a:solidFill>
              <a:srgbClr val="15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4059935"/>
            <a:ext cx="10058400" cy="585216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73152" rIns="91440" bIns="45720" rtlCol="0" anchor="ctr"/>
          <a:lstStyle/>
          <a:p>
            <a:pPr algn="ctr">
              <a:defRPr sz="1600" b="1">
                <a:solidFill>
                  <a:srgbClr val="1B3A5C"/>
                </a:solidFill>
                <a:latin typeface="Calibri"/>
              </a:defRPr>
            </a:pPr>
            <a:r>
              <a:rPr dirty="0"/>
              <a:t>Shading Modes: Gouraud vs. Phong</a:t>
            </a:r>
          </a:p>
          <a:p>
            <a:pPr>
              <a:defRPr sz="1250">
                <a:solidFill>
                  <a:srgbClr val="505F6E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Side-by-side shader evaluation and specular highlight fidelity comparison</a:t>
            </a:r>
            <a:endParaRPr>
              <a:solidFill>
                <a:schemeClr val="tx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5800" y="4754879"/>
            <a:ext cx="640080" cy="585216"/>
          </a:xfrm>
          <a:prstGeom prst="rect">
            <a:avLst/>
          </a:prstGeom>
          <a:solidFill>
            <a:srgbClr val="1B3A5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4754879"/>
            <a:ext cx="10058400" cy="585216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73152" rIns="91440" bIns="45720" rtlCol="0" anchor="ctr"/>
          <a:lstStyle/>
          <a:p>
            <a:pPr algn="ctr">
              <a:defRPr sz="1600" b="1">
                <a:solidFill>
                  <a:srgbClr val="1B3A5C"/>
                </a:solidFill>
                <a:latin typeface="Calibri"/>
              </a:defRPr>
            </a:pPr>
            <a:r>
              <a:rPr dirty="0"/>
              <a:t>Dynamic Kinematics &amp; Animations</a:t>
            </a:r>
          </a:p>
          <a:p>
            <a:pPr>
              <a:defRPr sz="1250">
                <a:solidFill>
                  <a:srgbClr val="505F6E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Smooth exponential door opening, dual-motion table fan, and switchboard LEDs</a:t>
            </a:r>
            <a:endParaRPr>
              <a:solidFill>
                <a:schemeClr val="tx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85800" y="5449824"/>
            <a:ext cx="640080" cy="585216"/>
          </a:xfrm>
          <a:prstGeom prst="rect">
            <a:avLst/>
          </a:prstGeom>
          <a:solidFill>
            <a:srgbClr val="1565A8"/>
          </a:solidFill>
          <a:ln>
            <a:solidFill>
              <a:srgbClr val="15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5449824"/>
            <a:ext cx="10058400" cy="585216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73152" rIns="91440" bIns="45720" rtlCol="0" anchor="ctr"/>
          <a:lstStyle/>
          <a:p>
            <a:pPr algn="ctr">
              <a:defRPr sz="1600" b="1">
                <a:solidFill>
                  <a:srgbClr val="1B3A5C"/>
                </a:solidFill>
                <a:latin typeface="Calibri"/>
              </a:defRPr>
            </a:pPr>
            <a:r>
              <a:rPr dirty="0"/>
              <a:t>Verification &amp; Live Demonstration</a:t>
            </a:r>
          </a:p>
          <a:p>
            <a:pPr>
              <a:defRPr sz="1250">
                <a:solidFill>
                  <a:srgbClr val="505F6E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High-resolution rendering results, performance benchmarks, and live defense guide</a:t>
            </a:r>
            <a:endParaRPr>
              <a:solidFill>
                <a:schemeClr val="tx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94360" y="6446520"/>
            <a:ext cx="11002975" cy="18288"/>
          </a:xfrm>
          <a:prstGeom prst="rect">
            <a:avLst/>
          </a:prstGeom>
          <a:solidFill>
            <a:srgbClr val="B4C3D4"/>
          </a:solidFill>
          <a:ln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6492240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05F6E"/>
                </a:solidFill>
                <a:latin typeface="Calibri"/>
              </a:defRPr>
            </a:pPr>
            <a:r>
              <a:t>Dept of CSE, KUET  ·  October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92240"/>
            <a:ext cx="3657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505F6E"/>
                </a:solidFill>
                <a:latin typeface="Calibri"/>
              </a:defRPr>
            </a:pPr>
            <a:r>
              <a:t>CSE 4102: Computer Graphics &amp; Image Processing 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492240"/>
            <a:ext cx="199613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565A8"/>
                </a:solidFill>
                <a:latin typeface="Calibri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050"/>
          </a:solidFill>
          <a:ln>
            <a:solidFill>
              <a:srgbClr val="14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80467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Introduction &amp; Scene Architecture</a:t>
            </a:r>
          </a:p>
          <a:p>
            <a:pPr>
              <a:defRPr sz="1350">
                <a:solidFill>
                  <a:srgbClr val="D2E6FA"/>
                </a:solidFill>
                <a:latin typeface="Calibri"/>
              </a:defRPr>
            </a:pPr>
            <a:r>
              <a:t>Interactive collegiate hall walkthrough in Core Profile OpenGL 3.3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2004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  <a:latin typeface="Calibri"/>
              </a:rPr>
              <a:t>● </a:t>
            </a:r>
            <a:r>
              <a:rPr sz="1700" b="1">
                <a:solidFill>
                  <a:srgbClr val="8CAFD2"/>
                </a:solidFill>
                <a:latin typeface="Calibri"/>
              </a:rPr>
              <a:t>○ ○ ○ ○ ○ ○ 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5303520" cy="1572768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344168"/>
            <a:ext cx="497433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 b="1">
                <a:solidFill>
                  <a:srgbClr val="1565A8"/>
                </a:solidFill>
                <a:latin typeface="Calibri"/>
              </a:defRPr>
            </a:pPr>
            <a:r>
              <a:rPr dirty="0"/>
              <a:t>1. Room 304 Interior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64208"/>
            <a:ext cx="5029200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rPr dirty="0"/>
              <a:t>▪  </a:t>
            </a:r>
            <a:r>
              <a:rPr dirty="0">
                <a:latin typeface="Arial"/>
                <a:cs typeface="Arial"/>
              </a:rPr>
              <a:t>Dimensions: 16.0 × 6.0 × 18.0 units quadruple dorm room.</a:t>
            </a:r>
            <a:endParaRPr lang="en-US" dirty="0">
              <a:latin typeface="Arial"/>
              <a:cs typeface="Arial"/>
            </a:endParaRP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rPr dirty="0">
                <a:latin typeface="Arial"/>
                <a:cs typeface="Arial"/>
              </a:rPr>
              <a:t>▪  4 detailed wooden beds with recessed mattresses &amp; trolley bags.</a:t>
            </a: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rPr dirty="0">
                <a:latin typeface="Arial"/>
                <a:cs typeface="Arial"/>
              </a:rPr>
              <a:t>▪  4 computing workstations with emissive PCs, CPUs &amp; chairs.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926080"/>
            <a:ext cx="5303520" cy="1572768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3035808"/>
            <a:ext cx="497433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 b="1">
                <a:solidFill>
                  <a:srgbClr val="1B3A5C"/>
                </a:solidFill>
                <a:latin typeface="Calibri"/>
              </a:defRPr>
            </a:pPr>
            <a:r>
              <a:rPr dirty="0">
                <a:latin typeface="Arial"/>
                <a:cs typeface="Arial"/>
              </a:rPr>
              <a:t>2. Hallway Corridor Environment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3355848"/>
            <a:ext cx="5029200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rPr dirty="0"/>
              <a:t>▪</a:t>
            </a:r>
            <a:r>
              <a:rPr dirty="0">
                <a:latin typeface="Arial"/>
                <a:cs typeface="Arial"/>
              </a:rPr>
              <a:t>  Enclosed hallway connecting dorms (302, 303, 305, 306).</a:t>
            </a:r>
            <a:endParaRPr lang="en-US" dirty="0">
              <a:latin typeface="Arial"/>
              <a:cs typeface="Arial"/>
            </a:endParaRP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rPr dirty="0">
                <a:latin typeface="Arial"/>
                <a:cs typeface="Arial"/>
              </a:rPr>
              <a:t>▪  Anti-Z-fighting terrazzo runner (+0.02 offset above slab).</a:t>
            </a: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rPr dirty="0">
                <a:latin typeface="Arial"/>
                <a:cs typeface="Arial"/>
              </a:rPr>
              <a:t>▪  Equipped with notice board, fire extinguisher &amp; water dispenser.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617720"/>
            <a:ext cx="5303520" cy="1600200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4727448"/>
            <a:ext cx="497433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 b="1">
                <a:solidFill>
                  <a:srgbClr val="DC641E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Balcony Terrace &amp; Quad Athletics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5047488"/>
            <a:ext cx="5029200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rPr dirty="0"/>
              <a:t>▪</a:t>
            </a:r>
            <a:r>
              <a:rPr dirty="0">
                <a:latin typeface="Arial"/>
                <a:cs typeface="Arial"/>
              </a:rPr>
              <a:t>  Balcony terrace overlooking campus sports complex.</a:t>
            </a:r>
            <a:endParaRPr lang="en-US" dirty="0">
              <a:latin typeface="Arial"/>
              <a:cs typeface="Arial"/>
            </a:endParaRP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rPr dirty="0">
                <a:latin typeface="Arial"/>
                <a:cs typeface="Arial"/>
              </a:rPr>
              <a:t>▪  400m running track, soccer pitch, cricket pitch &amp; wickets.</a:t>
            </a: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rPr dirty="0">
                <a:latin typeface="Arial"/>
                <a:cs typeface="Arial"/>
              </a:rPr>
              <a:t>▪  Surrounding multi-story hall wings &amp; four 30m floodlight masts.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234440"/>
            <a:ext cx="5486400" cy="4983480"/>
          </a:xfrm>
          <a:prstGeom prst="rect">
            <a:avLst/>
          </a:prstGeom>
          <a:solidFill>
            <a:srgbClr val="FFFFFF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91072" y="1344168"/>
            <a:ext cx="515721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 b="1">
                <a:solidFill>
                  <a:srgbClr val="1B3A5C"/>
                </a:solidFill>
                <a:latin typeface="Calibri"/>
              </a:defRPr>
            </a:pPr>
            <a:r>
              <a:rPr dirty="0"/>
              <a:t>Room 304 Interior Rendering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21" name="Picture 20" descr="room_light_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37360"/>
            <a:ext cx="5212080" cy="338328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263640" y="5257800"/>
            <a:ext cx="5212080" cy="822960"/>
          </a:xfrm>
          <a:prstGeom prst="rect">
            <a:avLst/>
          </a:prstGeom>
          <a:solidFill>
            <a:srgbClr val="F8FAFC"/>
          </a:solidFill>
          <a:ln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250">
                <a:solidFill>
                  <a:srgbClr val="505F6E"/>
                </a:solidFill>
                <a:latin typeface="Calibri"/>
              </a:defRPr>
            </a:pPr>
            <a:r>
              <a:t>Real-time Core Profile OpenGL 3.3 rendering displaying student beds, glowing PC monitors, and distance-attenuated point lighting (60.0 FPS).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46520"/>
            <a:ext cx="11002975" cy="18288"/>
          </a:xfrm>
          <a:prstGeom prst="rect">
            <a:avLst/>
          </a:prstGeom>
          <a:solidFill>
            <a:srgbClr val="B4C3D4"/>
          </a:solidFill>
          <a:ln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492240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05F6E"/>
                </a:solidFill>
                <a:latin typeface="Calibri"/>
              </a:defRPr>
            </a:pPr>
            <a:r>
              <a:t>Dept of CSE, KUET  ·  October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92240"/>
            <a:ext cx="3657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505F6E"/>
                </a:solidFill>
                <a:latin typeface="Calibri"/>
              </a:defRPr>
            </a:pPr>
            <a:r>
              <a:t>CSE 4102: Computer Graphics &amp; Image Processing Lab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492240"/>
            <a:ext cx="199613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565A8"/>
                </a:solidFill>
                <a:latin typeface="Calibri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050"/>
          </a:solidFill>
          <a:ln>
            <a:solidFill>
              <a:srgbClr val="14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80467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Procedural Primitive Computation</a:t>
            </a:r>
          </a:p>
          <a:p>
            <a:pPr>
              <a:defRPr sz="1350">
                <a:solidFill>
                  <a:srgbClr val="D2E6FA"/>
                </a:solidFill>
                <a:latin typeface="Calibri"/>
              </a:defRPr>
            </a:pPr>
            <a:r>
              <a:t>Foundational mathematical mesh generation without external CAD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2004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700" b="1">
                <a:solidFill>
                  <a:srgbClr val="8CAFD2"/>
                </a:solidFill>
                <a:latin typeface="Calibri"/>
              </a:rPr>
              <a:t>○ </a:t>
            </a:r>
            <a:r>
              <a:rPr sz="1700" b="1">
                <a:solidFill>
                  <a:srgbClr val="FFFFFF"/>
                </a:solidFill>
                <a:latin typeface="Calibri"/>
              </a:rPr>
              <a:t>● </a:t>
            </a:r>
            <a:r>
              <a:rPr sz="1700" b="1">
                <a:solidFill>
                  <a:srgbClr val="8CAFD2"/>
                </a:solidFill>
                <a:latin typeface="Calibri"/>
              </a:rPr>
              <a:t>○ ○ ○ ○ ○ 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3520440" cy="3291840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344168"/>
            <a:ext cx="319125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 b="1">
                <a:solidFill>
                  <a:srgbClr val="1565A8"/>
                </a:solidFill>
                <a:latin typeface="Calibri"/>
              </a:defRPr>
            </a:pPr>
            <a:r>
              <a:rPr dirty="0"/>
              <a:t>Unit Cube (Axis-Aligned)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4545" y="1691640"/>
            <a:ext cx="3220070" cy="13003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 b="1">
                <a:solidFill>
                  <a:srgbClr val="142D4B"/>
                </a:solidFill>
                <a:latin typeface="Calibri"/>
              </a:defRPr>
            </a:pPr>
            <a:r>
              <a:rPr dirty="0"/>
              <a:t>▪  Local Bounds: X, Y, Z in [-0.5, 0.5]</a:t>
            </a:r>
            <a:endParaRPr lang="en-US" dirty="0">
              <a:ea typeface="Calibri"/>
              <a:cs typeface="Calibri"/>
            </a:endParaRPr>
          </a:p>
          <a:p>
            <a:pPr>
              <a:defRPr sz="1300" b="1">
                <a:solidFill>
                  <a:srgbClr val="1565A8"/>
                </a:solidFill>
                <a:latin typeface="Calibri"/>
              </a:defRPr>
            </a:pPr>
            <a:r>
              <a:rPr dirty="0"/>
              <a:t>▪  Orthogonal Face Normals:</a:t>
            </a:r>
            <a:endParaRPr dirty="0">
              <a:ea typeface="Calibri"/>
              <a:cs typeface="Calibri"/>
            </a:endParaRPr>
          </a:p>
          <a:p>
            <a:pPr>
              <a:defRPr sz="1350">
                <a:solidFill>
                  <a:srgbClr val="232D3C"/>
                </a:solidFill>
                <a:latin typeface="Cambria"/>
              </a:defRPr>
            </a:pPr>
            <a:r>
              <a:rPr dirty="0"/>
              <a:t>   n = (±1, 0, 0), (0, ±1, 0), (0, 0, ±1)</a:t>
            </a:r>
            <a:endParaRPr dirty="0">
              <a:ea typeface="Cambria"/>
            </a:endParaRPr>
          </a:p>
          <a:p>
            <a:pPr>
              <a:defRPr sz="1300">
                <a:solidFill>
                  <a:srgbClr val="232D3C"/>
                </a:solidFill>
                <a:latin typeface="Calibri"/>
              </a:defRPr>
            </a:pPr>
            <a:r>
              <a:rPr dirty="0"/>
              <a:t>▪  Tessellation: 6 faces × 4 vertices = 24</a:t>
            </a:r>
            <a:endParaRPr dirty="0">
              <a:ea typeface="Calibri"/>
              <a:cs typeface="Calibri"/>
            </a:endParaRPr>
          </a:p>
          <a:p>
            <a:pPr>
              <a:defRPr sz="1300" b="1">
                <a:solidFill>
                  <a:srgbClr val="DC641E"/>
                </a:solidFill>
                <a:latin typeface="Calibri"/>
              </a:defRPr>
            </a:pPr>
            <a:r>
              <a:rPr dirty="0"/>
              <a:t>▪  EBO Optimization:</a:t>
            </a:r>
            <a:endParaRPr dirty="0">
              <a:ea typeface="Calibri"/>
              <a:cs typeface="Calibri"/>
            </a:endParaRPr>
          </a:p>
          <a:p>
            <a:pPr>
              <a:defRPr sz="1300">
                <a:solidFill>
                  <a:srgbClr val="232D3C"/>
                </a:solidFill>
                <a:latin typeface="Calibri"/>
              </a:defRPr>
            </a:pPr>
            <a:r>
              <a:rPr dirty="0"/>
              <a:t>   36 indices (144 B) vs 864 B (16.7% save)</a:t>
            </a:r>
            <a:endParaRPr dirty="0">
              <a:ea typeface="Calibri"/>
              <a:cs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3520440" cy="3291840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344168"/>
            <a:ext cx="319125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B3A5C"/>
                </a:solidFill>
                <a:latin typeface="Calibri"/>
              </a:defRPr>
            </a:pPr>
            <a:r>
              <a:t>UV Sphere (Lat-Long Mesh)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691640"/>
            <a:ext cx="3246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D4B"/>
                </a:solidFill>
                <a:latin typeface="Calibri"/>
              </a:defRPr>
            </a:pPr>
            <a:r>
              <a:t>▪  Parametric Surface Equations:</a:t>
            </a:r>
          </a:p>
          <a:p>
            <a:pPr>
              <a:defRPr sz="1300">
                <a:solidFill>
                  <a:srgbClr val="232D3C"/>
                </a:solidFill>
                <a:latin typeface="Cambria"/>
              </a:defRPr>
            </a:pPr>
            <a:r>
              <a:t>   p(θ, φ) = (r sinθ cosφ, r cosθ, r sinθ sinφ)</a:t>
            </a:r>
          </a:p>
          <a:p>
            <a:pPr>
              <a:defRPr sz="1300" b="1">
                <a:solidFill>
                  <a:srgbClr val="1B3A5C"/>
                </a:solidFill>
                <a:latin typeface="Calibri"/>
              </a:defRPr>
            </a:pPr>
            <a:r>
              <a:t>▪  Analytical Gradient Normal:</a:t>
            </a:r>
          </a:p>
          <a:p>
            <a:pPr>
              <a:defRPr sz="1350">
                <a:solidFill>
                  <a:srgbClr val="232D3C"/>
                </a:solidFill>
                <a:latin typeface="Cambria"/>
              </a:defRPr>
            </a:pPr>
            <a:r>
              <a:t>   n = ∇F / ||∇F|| = (x, y, z)</a:t>
            </a:r>
          </a:p>
          <a:p>
            <a:pPr>
              <a:defRPr sz="1300" b="1">
                <a:solidFill>
                  <a:srgbClr val="DC641E"/>
                </a:solidFill>
                <a:latin typeface="Calibri"/>
              </a:defRPr>
            </a:pPr>
            <a:r>
              <a:t>▪  14 Stacks × 18 Sectors:</a:t>
            </a:r>
          </a:p>
          <a:p>
            <a:pPr>
              <a:defRPr sz="1300">
                <a:solidFill>
                  <a:srgbClr val="232D3C"/>
                </a:solidFill>
                <a:latin typeface="Calibri"/>
              </a:defRPr>
            </a:pPr>
            <a:r>
              <a:t>   285 vertices, 468 triangles (1404 EBO)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234440"/>
            <a:ext cx="3520440" cy="3291840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2" y="1344168"/>
            <a:ext cx="319125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 b="1">
                <a:solidFill>
                  <a:srgbClr val="DC641E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Capped Cylinder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0" y="1691640"/>
            <a:ext cx="3246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D4B"/>
                </a:solidFill>
                <a:latin typeface="Calibri"/>
              </a:defRPr>
            </a:pPr>
            <a:r>
              <a:t>▪  Side Wall Parametrics:</a:t>
            </a:r>
          </a:p>
          <a:p>
            <a:pPr>
              <a:defRPr sz="1300">
                <a:solidFill>
                  <a:srgbClr val="232D3C"/>
                </a:solidFill>
                <a:latin typeface="Cambria"/>
              </a:defRPr>
            </a:pPr>
            <a:r>
              <a:t>   x = r cosθ,  z = r sinθ,  y in [-h/2, +h/2]</a:t>
            </a:r>
          </a:p>
          <a:p>
            <a:pPr>
              <a:defRPr sz="1300" b="1">
                <a:solidFill>
                  <a:srgbClr val="DC641E"/>
                </a:solidFill>
                <a:latin typeface="Calibri"/>
              </a:defRPr>
            </a:pPr>
            <a:r>
              <a:t>▪  Radial Side Normals:</a:t>
            </a:r>
          </a:p>
          <a:p>
            <a:pPr>
              <a:defRPr sz="1350">
                <a:solidFill>
                  <a:srgbClr val="232D3C"/>
                </a:solidFill>
                <a:latin typeface="Cambria"/>
              </a:defRPr>
            </a:pPr>
            <a:r>
              <a:t>   n_side = (cosθ, 0, sinθ) on XZ plane</a:t>
            </a:r>
          </a:p>
          <a:p>
            <a:pPr>
              <a:defRPr sz="1300" b="1">
                <a:solidFill>
                  <a:srgbClr val="1B3A5C"/>
                </a:solidFill>
                <a:latin typeface="Calibri"/>
              </a:defRPr>
            </a:pPr>
            <a:r>
              <a:t>▪  Axial End Cap Fans:</a:t>
            </a:r>
          </a:p>
          <a:p>
            <a:pPr>
              <a:defRPr sz="1300">
                <a:solidFill>
                  <a:srgbClr val="232D3C"/>
                </a:solidFill>
                <a:latin typeface="Calibri"/>
              </a:defRPr>
            </a:pPr>
            <a:r>
              <a:t>   78 vertices, 72 triangles (216 EBO)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663440"/>
            <a:ext cx="5394960" cy="1600200"/>
          </a:xfrm>
          <a:prstGeom prst="rect">
            <a:avLst/>
          </a:prstGeom>
          <a:solidFill>
            <a:srgbClr val="EEF5FC"/>
          </a:solidFill>
          <a:ln w="15240">
            <a:solidFill>
              <a:srgbClr val="15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4773168"/>
            <a:ext cx="506577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 b="1">
                <a:solidFill>
                  <a:srgbClr val="1B3A5C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Zero External CAD Model Principle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507492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▪  No external OBJ, FBX, or CAD models used anywhere in project.</a:t>
            </a:r>
          </a:p>
          <a:p>
            <a:pPr>
              <a:defRPr sz="1350" b="1">
                <a:solidFill>
                  <a:srgbClr val="1B3A5C"/>
                </a:solidFill>
                <a:latin typeface="Calibri"/>
              </a:defRPr>
            </a:pPr>
            <a:r>
              <a:t>▪  Total static cache: 387 vertices (15.5 KB) in GPU VRAM.</a:t>
            </a: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▪  Eliminates disk I/O latency for instant 60.0 FPS load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663440"/>
            <a:ext cx="5394960" cy="1600200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4773168"/>
            <a:ext cx="506577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 b="1">
                <a:solidFill>
                  <a:srgbClr val="1565A8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Procedural Assembly Application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55080" y="507492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▪  Cube: Walls, doors, study desks, almirahs, CPU towers.</a:t>
            </a: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▪  Sphere: Fan motor hubs, foliage, light bulbs, door knobs, sun.</a:t>
            </a: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▪  Cylinder: Bed posts, chair legs, fan rods, cricket wickets.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46520"/>
            <a:ext cx="11002975" cy="18288"/>
          </a:xfrm>
          <a:prstGeom prst="rect">
            <a:avLst/>
          </a:prstGeom>
          <a:solidFill>
            <a:srgbClr val="B4C3D4"/>
          </a:solidFill>
          <a:ln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6492240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05F6E"/>
                </a:solidFill>
                <a:latin typeface="Calibri"/>
              </a:defRPr>
            </a:pPr>
            <a:r>
              <a:t>Dept of CSE, KUET  ·  October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92240"/>
            <a:ext cx="3657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505F6E"/>
                </a:solidFill>
                <a:latin typeface="Calibri"/>
              </a:defRPr>
            </a:pPr>
            <a:r>
              <a:t>CSE 4102: Computer Graphics &amp; Image Processing Lab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492240"/>
            <a:ext cx="199613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565A8"/>
                </a:solidFill>
                <a:latin typeface="Calibri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050"/>
          </a:solidFill>
          <a:ln>
            <a:solidFill>
              <a:srgbClr val="14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80467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Transformations &amp; Camera Navigation</a:t>
            </a:r>
          </a:p>
          <a:p>
            <a:pPr>
              <a:defRPr sz="1350">
                <a:solidFill>
                  <a:srgbClr val="D2E6FA"/>
                </a:solidFill>
                <a:latin typeface="Calibri"/>
              </a:defRPr>
            </a:pPr>
            <a:r>
              <a:t>Hierarchical matrix pipeline and collision-bounded first-person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2004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700" b="1">
                <a:solidFill>
                  <a:srgbClr val="8CAFD2"/>
                </a:solidFill>
                <a:latin typeface="Calibri"/>
              </a:rPr>
              <a:t>○ ○ </a:t>
            </a:r>
            <a:r>
              <a:rPr sz="1700" b="1">
                <a:solidFill>
                  <a:srgbClr val="FFFFFF"/>
                </a:solidFill>
                <a:latin typeface="Calibri"/>
              </a:rPr>
              <a:t>● </a:t>
            </a:r>
            <a:r>
              <a:rPr sz="1700" b="1">
                <a:solidFill>
                  <a:srgbClr val="8CAFD2"/>
                </a:solidFill>
                <a:latin typeface="Calibri"/>
              </a:rPr>
              <a:t>○ ○ ○ ○ 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5394960" cy="2377440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344168"/>
            <a:ext cx="506577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65A8"/>
                </a:solidFill>
                <a:latin typeface="Calibri"/>
              </a:defRPr>
            </a:pPr>
            <a:r>
              <a:t>1. Model Transformation Matrix (M)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A5C"/>
                </a:solidFill>
                <a:latin typeface="Cambria"/>
              </a:defRPr>
            </a:pPr>
            <a:r>
              <a:t>▪  Matrix Formula:  M = T(t) · R_y(θ) · S(s)</a:t>
            </a: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▪  Scale (S): Stretches unit 1x1x1 primitive to metric physical dimensions.</a:t>
            </a: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▪  Rotate (R): Orients primitive around local coordinate axes.</a:t>
            </a: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▪  Translate (T): Places assembled asset at world position.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394960" cy="2377440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344168"/>
            <a:ext cx="506577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B3A5C"/>
                </a:solidFill>
                <a:latin typeface="Calibri"/>
              </a:defRPr>
            </a:pPr>
            <a:r>
              <a:t>2. Normal Matrix Transformation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A5C"/>
                </a:solidFill>
                <a:latin typeface="Cambria"/>
              </a:defRPr>
            </a:pPr>
            <a:r>
              <a:t>▪  Matrix Formula:  N_world = normalize( (M⁻¹)ᵀ · n_local )</a:t>
            </a: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▪  Geometric Distortion Problem: Non-uniform scaling (e.g. bed rails) destroys surface normal perpendicularity.</a:t>
            </a: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▪  Solution: Inverse-transpose maintains strict 90° normal orthogonality for photorealistic diffuse and specular lighting.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794760"/>
            <a:ext cx="5394960" cy="2377440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3904488"/>
            <a:ext cx="506577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DC641E"/>
                </a:solidFill>
                <a:latin typeface="Calibri"/>
              </a:defRPr>
            </a:pPr>
            <a:r>
              <a:t>3. First-Person Camera Motion Vector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519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DC641E"/>
                </a:solidFill>
                <a:latin typeface="Cambria"/>
              </a:defRPr>
            </a:pPr>
            <a:r>
              <a:t>▪  Horizontal Walk Vector:  D_walk = (D_x, 0.0, D_z) / ||·||</a:t>
            </a: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▪  Pitch-Independence: Stripping the Y component prevents slowing down or speeding up when looking up at ceiling or down at floor.</a:t>
            </a: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▪  View Matrix V: Look-At from camera position P_cam and vectors.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794760"/>
            <a:ext cx="5394960" cy="2377440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82512" y="3904488"/>
            <a:ext cx="506577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65A8"/>
                </a:solidFill>
                <a:latin typeface="Calibri"/>
              </a:defRPr>
            </a:pPr>
            <a:r>
              <a:t>4. 3-Zone Portal Collision Logic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519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A5C"/>
                </a:solidFill>
                <a:latin typeface="Calibri"/>
              </a:defRPr>
            </a:pPr>
            <a:r>
              <a:t>▪  Topological Zones: Balcony (z &gt; 8.5), Corridor (z &lt; -8.5), Room 304.</a:t>
            </a: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▪  Solid Boundary Enclosure: Walls strictly impassable by default.</a:t>
            </a: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▪  Doorway Portal Gate: Passing between zones permitted only if within doorway opening bounds AND door is swung open (θ &gt; 10°).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446520"/>
            <a:ext cx="11002975" cy="18288"/>
          </a:xfrm>
          <a:prstGeom prst="rect">
            <a:avLst/>
          </a:prstGeom>
          <a:solidFill>
            <a:srgbClr val="B4C3D4"/>
          </a:solidFill>
          <a:ln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6492240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05F6E"/>
                </a:solidFill>
                <a:latin typeface="Calibri"/>
              </a:defRPr>
            </a:pPr>
            <a:r>
              <a:t>Dept of CSE, KUET  ·  October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92240"/>
            <a:ext cx="3657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505F6E"/>
                </a:solidFill>
                <a:latin typeface="Calibri"/>
              </a:defRPr>
            </a:pPr>
            <a:r>
              <a:t>CSE 4102: Computer Graphics &amp; Image Processing 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492240"/>
            <a:ext cx="199613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565A8"/>
                </a:solidFill>
                <a:latin typeface="Calibri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050"/>
          </a:solidFill>
          <a:ln>
            <a:solidFill>
              <a:srgbClr val="14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80467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Multi-Source Illumination Model</a:t>
            </a:r>
          </a:p>
          <a:p>
            <a:pPr>
              <a:defRPr sz="1350">
                <a:solidFill>
                  <a:srgbClr val="D2E6FA"/>
                </a:solidFill>
                <a:latin typeface="Calibri"/>
              </a:defRPr>
            </a:pPr>
            <a:r>
              <a:t>Vector Phong reflection equations and distance-attenuated point light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2004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700" b="1">
                <a:solidFill>
                  <a:srgbClr val="8CAFD2"/>
                </a:solidFill>
                <a:latin typeface="Calibri"/>
              </a:rPr>
              <a:t>○ ○ ○ </a:t>
            </a:r>
            <a:r>
              <a:rPr sz="1700" b="1">
                <a:solidFill>
                  <a:srgbClr val="FFFFFF"/>
                </a:solidFill>
                <a:latin typeface="Calibri"/>
              </a:rPr>
              <a:t>● </a:t>
            </a:r>
            <a:r>
              <a:rPr sz="1700" b="1">
                <a:solidFill>
                  <a:srgbClr val="8CAFD2"/>
                </a:solidFill>
                <a:latin typeface="Calibri"/>
              </a:rPr>
              <a:t>○ ○ ○ 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11002975" cy="960120"/>
          </a:xfrm>
          <a:prstGeom prst="rect">
            <a:avLst/>
          </a:prstGeom>
          <a:solidFill>
            <a:srgbClr val="EEF5FC"/>
          </a:solidFill>
          <a:ln w="19050">
            <a:solidFill>
              <a:srgbClr val="15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900" b="1">
                <a:solidFill>
                  <a:srgbClr val="1B3A5C"/>
                </a:solidFill>
                <a:latin typeface="Cambria"/>
              </a:defRPr>
            </a:pPr>
            <a:r>
              <a:t>I_total  =  k_a I_a   +   k_d I_d · max( N · L , 0 )   +   k_s I_s · [ max( R · V , 0 ) ]^α</a:t>
            </a:r>
          </a:p>
          <a:p>
            <a:pPr algn="ctr">
              <a:defRPr sz="1250">
                <a:solidFill>
                  <a:srgbClr val="505F6E"/>
                </a:solidFill>
                <a:latin typeface="Calibri"/>
              </a:defRPr>
            </a:pPr>
            <a:r>
              <a:t>Where N is surface normal, L is light direction, R = 2(N·L)N - L is reflection vector, and V is view direction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331720"/>
            <a:ext cx="3520440" cy="2194560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2441448"/>
            <a:ext cx="319125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65A8"/>
                </a:solidFill>
                <a:latin typeface="Calibri"/>
              </a:defRPr>
            </a:pPr>
            <a:r>
              <a:t>Ambient (k_a · I_a)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▪  Uniform scattered background light.</a:t>
            </a: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▪  Simulates secondary reflections.</a:t>
            </a: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▪  Prevents completely black shadows in unlit room corners and under beds.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331720"/>
            <a:ext cx="3520440" cy="2194560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2441448"/>
            <a:ext cx="319125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B3A5C"/>
                </a:solidFill>
                <a:latin typeface="Calibri"/>
              </a:defRPr>
            </a:pPr>
            <a:r>
              <a:t>Diffuse (k_d · I_d · (N · L))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78892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▪  Lambert's Cosine Law for matte reflection.</a:t>
            </a: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▪  Scatters equally in all directions.</a:t>
            </a: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▪  Intensity scales with angle (N·L).</a:t>
            </a: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▪  Clamped at zero to avoid negative light.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2331720"/>
            <a:ext cx="3520440" cy="2194560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2" y="2441448"/>
            <a:ext cx="319125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DC641E"/>
                </a:solidFill>
                <a:latin typeface="Calibri"/>
              </a:defRPr>
            </a:pPr>
            <a:r>
              <a:t>Specular (k_s · I_s · (R · V)^α)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78892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▪  Glossy highlight when R aligns with V.</a:t>
            </a:r>
          </a:p>
          <a:p>
            <a:pPr>
              <a:defRPr sz="1350">
                <a:solidFill>
                  <a:srgbClr val="232D3C"/>
                </a:solidFill>
                <a:latin typeface="Cambria"/>
              </a:defRPr>
            </a:pPr>
            <a:r>
              <a:t>▪  Reflection: R = 2(N·L)N - L.</a:t>
            </a: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▪  Shininess exponent α = 32.0 controls sharp circular highlight size.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663440"/>
            <a:ext cx="5394960" cy="1600200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" y="4773168"/>
            <a:ext cx="506577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B3A5C"/>
                </a:solidFill>
                <a:latin typeface="Calibri"/>
              </a:defRPr>
            </a:pPr>
            <a:r>
              <a:t>Quadratic Point Light Attenuation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749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A5C"/>
                </a:solidFill>
                <a:latin typeface="Cambria"/>
              </a:defRPr>
            </a:pPr>
            <a:r>
              <a:t>▪  Formula:  f_att(d) = 1.0 / ( 1.0 + 0.055·d + 0.009·d² )</a:t>
            </a:r>
          </a:p>
          <a:p>
            <a:pPr>
              <a:defRPr sz="1300">
                <a:solidFill>
                  <a:srgbClr val="232D3C"/>
                </a:solidFill>
                <a:latin typeface="Calibri"/>
              </a:defRPr>
            </a:pPr>
            <a:r>
              <a:t>▪  Modulates diffuse and specular intensities over Euclidean distance d.</a:t>
            </a:r>
          </a:p>
          <a:p>
            <a:pPr>
              <a:defRPr sz="1300">
                <a:solidFill>
                  <a:srgbClr val="232D3C"/>
                </a:solidFill>
                <a:latin typeface="Calibri"/>
              </a:defRPr>
            </a:pPr>
            <a:r>
              <a:t>▪  Produces realistic soft drop-off for realistic indoor room illumination.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663440"/>
            <a:ext cx="5394960" cy="1600200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82512" y="4773168"/>
            <a:ext cx="506577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65A8"/>
                </a:solidFill>
                <a:latin typeface="Calibri"/>
              </a:defRPr>
            </a:pPr>
            <a:r>
              <a:t>7-Source Illumination Infrastructure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0749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65A8"/>
                </a:solidFill>
                <a:latin typeface="Calibri"/>
              </a:defRPr>
            </a:pPr>
            <a:r>
              <a:t>▪  L0: Directional Sun (-0.35, -0.85, -0.40), warm outdoor sky light.</a:t>
            </a:r>
          </a:p>
          <a:p>
            <a:pPr>
              <a:defRPr sz="1300">
                <a:solidFill>
                  <a:srgbClr val="232D3C"/>
                </a:solidFill>
                <a:latin typeface="Calibri"/>
              </a:defRPr>
            </a:pPr>
            <a:r>
              <a:t>▪  L1–L4: 4 distance-attenuated tube lights inside Room 304.</a:t>
            </a:r>
          </a:p>
          <a:p>
            <a:pPr>
              <a:defRPr sz="1300">
                <a:solidFill>
                  <a:srgbClr val="232D3C"/>
                </a:solidFill>
                <a:latin typeface="Calibri"/>
              </a:defRPr>
            </a:pPr>
            <a:r>
              <a:t>▪  L5 &amp; L6: Corridor hallway tube light and warm balcony sconce light.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446520"/>
            <a:ext cx="11002975" cy="18288"/>
          </a:xfrm>
          <a:prstGeom prst="rect">
            <a:avLst/>
          </a:prstGeom>
          <a:solidFill>
            <a:srgbClr val="B4C3D4"/>
          </a:solidFill>
          <a:ln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6492240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05F6E"/>
                </a:solidFill>
                <a:latin typeface="Calibri"/>
              </a:defRPr>
            </a:pPr>
            <a:r>
              <a:t>Dept of CSE, KUET  ·  October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92240"/>
            <a:ext cx="3657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505F6E"/>
                </a:solidFill>
                <a:latin typeface="Calibri"/>
              </a:defRPr>
            </a:pPr>
            <a:r>
              <a:t>CSE 4102: Computer Graphics &amp; Image Processing Lab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6492240"/>
            <a:ext cx="199613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565A8"/>
                </a:solidFill>
                <a:latin typeface="Calibri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050"/>
          </a:solidFill>
          <a:ln>
            <a:solidFill>
              <a:srgbClr val="14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80467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Shading Techniques: Gouraud vs. Phong</a:t>
            </a:r>
          </a:p>
          <a:p>
            <a:pPr>
              <a:defRPr sz="1350">
                <a:solidFill>
                  <a:srgbClr val="D2E6FA"/>
                </a:solidFill>
                <a:latin typeface="Calibri"/>
              </a:defRPr>
            </a:pPr>
            <a:r>
              <a:t>Runtime switchable per-vertex vs. per-fragment illumination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2004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700" b="1">
                <a:solidFill>
                  <a:srgbClr val="8CAFD2"/>
                </a:solidFill>
                <a:latin typeface="Calibri"/>
              </a:rPr>
              <a:t>○ ○ ○ ○ </a:t>
            </a:r>
            <a:r>
              <a:rPr sz="1700" b="1">
                <a:solidFill>
                  <a:srgbClr val="FFFFFF"/>
                </a:solidFill>
                <a:latin typeface="Calibri"/>
              </a:rPr>
              <a:t>● </a:t>
            </a:r>
            <a:r>
              <a:rPr sz="1700" b="1">
                <a:solidFill>
                  <a:srgbClr val="8CAFD2"/>
                </a:solidFill>
                <a:latin typeface="Calibri"/>
              </a:rPr>
              <a:t>○ ○ 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5394960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344168"/>
            <a:ext cx="506577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B3A5C"/>
                </a:solidFill>
                <a:latin typeface="Calibri"/>
              </a:defRPr>
            </a:pPr>
            <a:r>
              <a:t>GOURAUD SHADING  (Key G)</a:t>
            </a:r>
          </a:p>
        </p:txBody>
      </p:sp>
      <p:pic>
        <p:nvPicPr>
          <p:cNvPr id="9" name="Picture 8" descr="room_light_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120640" cy="26974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17920" y="1234440"/>
            <a:ext cx="5394960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344168"/>
            <a:ext cx="506577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65A8"/>
                </a:solidFill>
                <a:latin typeface="Calibri"/>
              </a:defRPr>
            </a:pPr>
            <a:r>
              <a:t>PHONG SHADING  (Key P — Default)</a:t>
            </a:r>
          </a:p>
        </p:txBody>
      </p:sp>
      <p:pic>
        <p:nvPicPr>
          <p:cNvPr id="13" name="Picture 12" descr="room_light_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91640"/>
            <a:ext cx="5120640" cy="269748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94360" y="4617720"/>
            <a:ext cx="3520440" cy="1691640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4727448"/>
            <a:ext cx="319125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B3A5C"/>
                </a:solidFill>
                <a:latin typeface="Calibri"/>
              </a:defRPr>
            </a:pPr>
            <a:r>
              <a:t>Shader Execution Stage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Calibri"/>
              </a:defRPr>
            </a:pPr>
            <a:r>
              <a:t>▪  Gouraud: Evaluated in Vertex Shader (default.vert).</a:t>
            </a:r>
          </a:p>
          <a:p>
            <a:pPr>
              <a:defRPr sz="1300" b="1">
                <a:solidFill>
                  <a:srgbClr val="1565A8"/>
                </a:solidFill>
                <a:latin typeface="Calibri"/>
              </a:defRPr>
            </a:pPr>
            <a:r>
              <a:t>▪  Phong: Evaluated in Fragment Shader (default.frag).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4617720"/>
            <a:ext cx="3520440" cy="1691640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07992" y="4727448"/>
            <a:ext cx="319125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65A8"/>
                </a:solidFill>
                <a:latin typeface="Calibri"/>
              </a:defRPr>
            </a:pPr>
            <a:r>
              <a:t>Interpolation Mechanics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5029200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Calibri"/>
              </a:defRPr>
            </a:pPr>
            <a:r>
              <a:t>▪  Gouraud: Hardware linearly interpolates vertex colors.</a:t>
            </a:r>
          </a:p>
          <a:p>
            <a:pPr>
              <a:defRPr sz="1300" b="1">
                <a:solidFill>
                  <a:srgbClr val="1B3A5C"/>
                </a:solidFill>
                <a:latin typeface="Calibri"/>
              </a:defRPr>
            </a:pPr>
            <a:r>
              <a:t>▪  Phong: Normal vector is interpolated per fragment, computing lighting at every pixel.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2440" y="4617720"/>
            <a:ext cx="3520440" cy="1691640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57032" y="4727448"/>
            <a:ext cx="319125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 b="1">
                <a:solidFill>
                  <a:srgbClr val="DC641E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Specular Highlight Fidelity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600" y="5029200"/>
            <a:ext cx="3246120" cy="892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Calibri"/>
              </a:defRPr>
            </a:pPr>
            <a:r>
              <a:rPr dirty="0"/>
              <a:t>▪  </a:t>
            </a:r>
            <a:r>
              <a:rPr dirty="0" err="1"/>
              <a:t>Gouraud</a:t>
            </a:r>
            <a:r>
              <a:rPr dirty="0"/>
              <a:t>: Highlights clip or distort across large polygons.</a:t>
            </a:r>
          </a:p>
          <a:p>
            <a:pPr>
              <a:defRPr sz="1300" b="1">
                <a:solidFill>
                  <a:srgbClr val="DC641E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▪  Phong: Sharp, circular, mathematically exact highlights on fans and bedposts.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94360" y="6446520"/>
            <a:ext cx="11002975" cy="18288"/>
          </a:xfrm>
          <a:prstGeom prst="rect">
            <a:avLst/>
          </a:prstGeom>
          <a:solidFill>
            <a:srgbClr val="B4C3D4"/>
          </a:solidFill>
          <a:ln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6492240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05F6E"/>
                </a:solidFill>
                <a:latin typeface="Calibri"/>
              </a:defRPr>
            </a:pPr>
            <a:r>
              <a:t>Dept of CSE, KUET  ·  October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92240"/>
            <a:ext cx="3657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505F6E"/>
                </a:solidFill>
                <a:latin typeface="Calibri"/>
              </a:defRPr>
            </a:pPr>
            <a:r>
              <a:t>CSE 4102: Computer Graphics &amp; Image Processing Lab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492240"/>
            <a:ext cx="199613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565A8"/>
                </a:solidFill>
                <a:latin typeface="Calibri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050"/>
          </a:solidFill>
          <a:ln>
            <a:solidFill>
              <a:srgbClr val="14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80467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Dynamic Kinematics &amp; Animations</a:t>
            </a:r>
          </a:p>
          <a:p>
            <a:pPr>
              <a:defRPr sz="1350">
                <a:solidFill>
                  <a:srgbClr val="D2E6FA"/>
                </a:solidFill>
                <a:latin typeface="Calibri"/>
              </a:defRPr>
            </a:pPr>
            <a:r>
              <a:t>Physics-driven motion, compound fan kinematics, and electrical switchboard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2004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700" b="1">
                <a:solidFill>
                  <a:srgbClr val="8CAFD2"/>
                </a:solidFill>
                <a:latin typeface="Calibri"/>
              </a:rPr>
              <a:t>○ ○ ○ ○ ○ </a:t>
            </a:r>
            <a:r>
              <a:rPr sz="1700" b="1">
                <a:solidFill>
                  <a:srgbClr val="FFFFFF"/>
                </a:solidFill>
                <a:latin typeface="Calibri"/>
              </a:rPr>
              <a:t>● </a:t>
            </a:r>
            <a:r>
              <a:rPr sz="1700" b="1">
                <a:solidFill>
                  <a:srgbClr val="8CAFD2"/>
                </a:solidFill>
                <a:latin typeface="Calibri"/>
              </a:rPr>
              <a:t>○ 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5303520" cy="1572768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344168"/>
            <a:ext cx="497433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65A8"/>
                </a:solidFill>
                <a:latin typeface="Calibri"/>
              </a:defRPr>
            </a:pPr>
            <a:r>
              <a:t>1. Smooth Exponential Door Kinematics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64208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A5C"/>
                </a:solidFill>
                <a:latin typeface="Cambria"/>
              </a:defRPr>
            </a:pPr>
            <a:r>
              <a:t>▪  Decay Law: θ(t+Δt) = θ + (θ_target - θ) · 5.0 · Δt</a:t>
            </a:r>
          </a:p>
          <a:p>
            <a:pPr>
              <a:defRPr sz="1350">
                <a:solidFill>
                  <a:srgbClr val="232D3C"/>
                </a:solidFill>
                <a:latin typeface="Cambria"/>
              </a:defRPr>
            </a:pPr>
            <a:r>
              <a:t>▪  Offset Hinge Pivot: M_door = T(p_h) · R_y(θ) · T(-p_h) · M_slab</a:t>
            </a: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▪  Keys O &amp; M smoothly swing Balcony &amp; Main Door to 95.0°.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926080"/>
            <a:ext cx="5303520" cy="1572768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3035808"/>
            <a:ext cx="497433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 b="1">
                <a:solidFill>
                  <a:srgbClr val="DC641E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Compound Dual-Motion Table Fan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3355848"/>
            <a:ext cx="5029200" cy="7155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50" b="1">
                <a:solidFill>
                  <a:srgbClr val="DC641E"/>
                </a:solidFill>
                <a:latin typeface="Cambria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▪  High-Speed Blade Spin: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θ_blade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(θ + 880.0° ·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Δt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) mod 360°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ea typeface="Cambria"/>
            </a:endParaRPr>
          </a:p>
          <a:p>
            <a:pPr>
              <a:defRPr sz="1350" b="1">
                <a:solidFill>
                  <a:srgbClr val="1B3A5C"/>
                </a:solidFill>
                <a:latin typeface="Cambria"/>
              </a:defRPr>
            </a:pPr>
            <a:r>
              <a:rPr dirty="0"/>
              <a:t>▪  Sinusoidal Case Oscillation: </a:t>
            </a:r>
            <a:r>
              <a:rPr dirty="0" err="1"/>
              <a:t>θ_case</a:t>
            </a:r>
            <a:r>
              <a:rPr dirty="0"/>
              <a:t> = 42.0° · sin( 1.8 · t )</a:t>
            </a:r>
            <a:endParaRPr dirty="0">
              <a:ea typeface="Cambria"/>
            </a:endParaRP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rPr dirty="0"/>
              <a:t>▪  4 ceiling fans simultaneously rotate continuously at 520.0°/s.</a:t>
            </a:r>
            <a:endParaRPr dirty="0">
              <a:ea typeface="Calibri"/>
              <a:cs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4360" y="4617720"/>
            <a:ext cx="5303520" cy="1600200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4727448"/>
            <a:ext cx="497433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B3A5C"/>
                </a:solidFill>
                <a:latin typeface="Calibri"/>
              </a:defRPr>
            </a:pPr>
            <a:r>
              <a:t>3. 4-Gang Electrical Switchboard Simulation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47488"/>
            <a:ext cx="50292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▪  Wall Switchboard: Mounted at eye level with 4 toggle switches.</a:t>
            </a:r>
          </a:p>
          <a:p>
            <a:pPr>
              <a:defRPr sz="1350" b="1">
                <a:solidFill>
                  <a:srgbClr val="1565A8"/>
                </a:solidFill>
                <a:latin typeface="Calibri"/>
              </a:defRPr>
            </a:pPr>
            <a:r>
              <a:t>▪  Live Status LEDs: Green when tube is active; Red when off.</a:t>
            </a:r>
          </a:p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▪  Key 0 deactivates all 4 room lights entering Dark Room State.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234440"/>
            <a:ext cx="5486400" cy="4983480"/>
          </a:xfrm>
          <a:prstGeom prst="rect">
            <a:avLst/>
          </a:prstGeom>
          <a:solidFill>
            <a:srgbClr val="FFFFFF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91072" y="1344168"/>
            <a:ext cx="515721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B3A5C"/>
                </a:solidFill>
                <a:latin typeface="Calibri"/>
              </a:defRPr>
            </a:pPr>
            <a:r>
              <a:t>Balcony Door Open Animation (Key O)</a:t>
            </a:r>
          </a:p>
        </p:txBody>
      </p:sp>
      <p:pic>
        <p:nvPicPr>
          <p:cNvPr id="21" name="Picture 20" descr="room_door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37360"/>
            <a:ext cx="5212080" cy="338328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263640" y="5257800"/>
            <a:ext cx="5212080" cy="822960"/>
          </a:xfrm>
          <a:prstGeom prst="rect">
            <a:avLst/>
          </a:prstGeom>
          <a:solidFill>
            <a:srgbClr val="F8FAFC"/>
          </a:solidFill>
          <a:ln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250">
                <a:solidFill>
                  <a:srgbClr val="505F6E"/>
                </a:solidFill>
                <a:latin typeface="Calibri"/>
              </a:defRPr>
            </a:pPr>
            <a:r>
              <a:t>Interactive verification: Pressing key O smoothly opens the door 95°, unlocking camera portal passage to the outdoor balcony terrace and quad athletic field.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46520"/>
            <a:ext cx="11002975" cy="18288"/>
          </a:xfrm>
          <a:prstGeom prst="rect">
            <a:avLst/>
          </a:prstGeom>
          <a:solidFill>
            <a:srgbClr val="B4C3D4"/>
          </a:solidFill>
          <a:ln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492240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05F6E"/>
                </a:solidFill>
                <a:latin typeface="Calibri"/>
              </a:defRPr>
            </a:pPr>
            <a:r>
              <a:t>Dept of CSE, KUET  ·  October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92240"/>
            <a:ext cx="3657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505F6E"/>
                </a:solidFill>
                <a:latin typeface="Calibri"/>
              </a:defRPr>
            </a:pPr>
            <a:r>
              <a:t>CSE 4102: Computer Graphics &amp; Image Processing Lab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492240"/>
            <a:ext cx="199613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565A8"/>
                </a:solidFill>
                <a:latin typeface="Calibri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050"/>
          </a:solidFill>
          <a:ln>
            <a:solidFill>
              <a:srgbClr val="14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80467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Architectural Showcase &amp; Live Demo Guide</a:t>
            </a:r>
          </a:p>
          <a:p>
            <a:pPr>
              <a:defRPr sz="1350">
                <a:solidFill>
                  <a:srgbClr val="D2E6FA"/>
                </a:solidFill>
                <a:latin typeface="Calibri"/>
              </a:defRPr>
            </a:pPr>
            <a:r>
              <a:t>Corridor, balcony, and sports complex environment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2004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700" b="1">
                <a:solidFill>
                  <a:srgbClr val="8CAFD2"/>
                </a:solidFill>
                <a:latin typeface="Calibri"/>
              </a:rPr>
              <a:t>○ ○ ○ ○ ○ ○ </a:t>
            </a:r>
            <a:r>
              <a:rPr sz="1700" b="1">
                <a:solidFill>
                  <a:srgbClr val="FFFFFF"/>
                </a:solidFill>
                <a:latin typeface="Calibri"/>
              </a:rPr>
              <a:t>● 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5394960" cy="3154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344168"/>
            <a:ext cx="506577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B3A5C"/>
                </a:solidFill>
                <a:latin typeface="Calibri"/>
              </a:defRPr>
            </a:pPr>
            <a:r>
              <a:t>Hallway Corridor (Terrazzo Runner &amp; Notices)</a:t>
            </a:r>
          </a:p>
        </p:txBody>
      </p:sp>
      <p:pic>
        <p:nvPicPr>
          <p:cNvPr id="9" name="Picture 8" descr="corridor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120640" cy="26060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17920" y="1234440"/>
            <a:ext cx="5394960" cy="3154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344168"/>
            <a:ext cx="506577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B3A5C"/>
                </a:solidFill>
                <a:latin typeface="Calibri"/>
              </a:defRPr>
            </a:pPr>
            <a:r>
              <a:t>Courtyard Sports Complex &amp; Hall Wings</a:t>
            </a:r>
          </a:p>
        </p:txBody>
      </p:sp>
      <p:pic>
        <p:nvPicPr>
          <p:cNvPr id="13" name="Picture 12" descr="courtyard_panor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91640"/>
            <a:ext cx="5120640" cy="26060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94360" y="4526280"/>
            <a:ext cx="2615184" cy="1783080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4636008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65A8"/>
                </a:solidFill>
                <a:latin typeface="Calibri"/>
              </a:defRPr>
            </a:pPr>
            <a:r>
              <a:t>Step 1: Primitives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956048"/>
            <a:ext cx="2340864" cy="274320"/>
          </a:xfrm>
          <a:prstGeom prst="rect">
            <a:avLst/>
          </a:prstGeom>
          <a:solidFill>
            <a:srgbClr val="EBF2FA"/>
          </a:solidFill>
          <a:ln w="12700">
            <a:solidFill>
              <a:srgbClr val="15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>
              <a:defRPr sz="1150" b="1">
                <a:solidFill>
                  <a:srgbClr val="1565A8"/>
                </a:solidFill>
                <a:latin typeface="Calibri"/>
              </a:defRPr>
            </a:pPr>
            <a:r>
              <a:t>Primitives.cpp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85232"/>
            <a:ext cx="234086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C"/>
                </a:solidFill>
                <a:latin typeface="Calibri"/>
              </a:defRPr>
            </a:pPr>
            <a:r>
              <a:t>Explain Unit Cube, UV Sphere, and Cylinder mathematical mesh formulas and zero external CAD model dependency.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79" y="4526280"/>
            <a:ext cx="2615184" cy="1783080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47871" y="4636008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B3A5C"/>
                </a:solidFill>
                <a:latin typeface="Calibri"/>
              </a:defRPr>
            </a:pPr>
            <a:r>
              <a:t>Step 2: Switchboard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39" y="4956048"/>
            <a:ext cx="2340864" cy="274320"/>
          </a:xfrm>
          <a:prstGeom prst="rect">
            <a:avLst/>
          </a:prstGeom>
          <a:solidFill>
            <a:srgbClr val="EBF2FA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>
              <a:defRPr sz="1150" b="1">
                <a:solidFill>
                  <a:srgbClr val="1B3A5C"/>
                </a:solidFill>
                <a:latin typeface="Calibri"/>
              </a:defRPr>
            </a:pPr>
            <a:r>
              <a:t>Keys 1, 2, 3, 4,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39" y="5285232"/>
            <a:ext cx="234086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C"/>
                </a:solidFill>
                <a:latin typeface="Calibri"/>
              </a:defRPr>
            </a:pPr>
            <a:r>
              <a:t>Toggle switches to demonstrate point light quadratic attenuation and live LED indicator changes; show Dark Room.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4526280"/>
            <a:ext cx="2615184" cy="1783080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36792" y="4636008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DC641E"/>
                </a:solidFill>
                <a:latin typeface="Calibri"/>
              </a:defRPr>
            </a:pPr>
            <a:r>
              <a:t>Step 3: Shading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956048"/>
            <a:ext cx="2340864" cy="274320"/>
          </a:xfrm>
          <a:prstGeom prst="rect">
            <a:avLst/>
          </a:prstGeom>
          <a:solidFill>
            <a:srgbClr val="EBF2FA"/>
          </a:solidFill>
          <a:ln w="12700">
            <a:solidFill>
              <a:srgbClr val="DC6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>
              <a:defRPr sz="1150" b="1">
                <a:solidFill>
                  <a:srgbClr val="DC641E"/>
                </a:solidFill>
                <a:latin typeface="Calibri"/>
              </a:defRPr>
            </a:pPr>
            <a:r>
              <a:t>Keys G &amp; 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285232"/>
            <a:ext cx="234086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C"/>
                </a:solidFill>
                <a:latin typeface="Calibri"/>
              </a:defRPr>
            </a:pPr>
            <a:r>
              <a:t>Press G to show polygonal highlight degradation; press P to restore per-fragment smooth Phong specular highlights.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19" y="4526280"/>
            <a:ext cx="2615184" cy="1783080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25711" y="4636008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65A8"/>
                </a:solidFill>
                <a:latin typeface="Calibri"/>
              </a:defRPr>
            </a:pPr>
            <a:r>
              <a:t>Step 4: Kinematics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98279" y="4956048"/>
            <a:ext cx="2340864" cy="274320"/>
          </a:xfrm>
          <a:prstGeom prst="rect">
            <a:avLst/>
          </a:prstGeom>
          <a:solidFill>
            <a:srgbClr val="EBF2FA"/>
          </a:solidFill>
          <a:ln w="12700">
            <a:solidFill>
              <a:srgbClr val="15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>
              <a:defRPr sz="1150" b="1">
                <a:solidFill>
                  <a:srgbClr val="1565A8"/>
                </a:solidFill>
                <a:latin typeface="Calibri"/>
              </a:defRPr>
            </a:pPr>
            <a:r>
              <a:t>Keys O &amp; 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79" y="5285232"/>
            <a:ext cx="234086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C"/>
                </a:solidFill>
                <a:latin typeface="Calibri"/>
              </a:defRPr>
            </a:pPr>
            <a:r>
              <a:t>Press O to swing balcony door 95° open; walk through doorway portal to explore track, cricket pitch &amp; hall wings.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446520"/>
            <a:ext cx="11002975" cy="18288"/>
          </a:xfrm>
          <a:prstGeom prst="rect">
            <a:avLst/>
          </a:prstGeom>
          <a:solidFill>
            <a:srgbClr val="B4C3D4"/>
          </a:solidFill>
          <a:ln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6492240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05F6E"/>
                </a:solidFill>
                <a:latin typeface="Calibri"/>
              </a:defRPr>
            </a:pPr>
            <a:r>
              <a:t>Dept of CSE, KUET  ·  October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92240"/>
            <a:ext cx="3657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505F6E"/>
                </a:solidFill>
                <a:latin typeface="Calibri"/>
              </a:defRPr>
            </a:pPr>
            <a:r>
              <a:t>CSE 4102: Computer Graphics &amp; Image Processing Lab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6492240"/>
            <a:ext cx="199613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565A8"/>
                </a:solidFill>
                <a:latin typeface="Calibri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43050"/>
          </a:solidFill>
          <a:ln>
            <a:solidFill>
              <a:srgbClr val="14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48568" y="274320"/>
            <a:ext cx="2664383" cy="73866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57400"/>
            <a:ext cx="5394960" cy="1325880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167128"/>
            <a:ext cx="506577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 b="1">
                <a:solidFill>
                  <a:srgbClr val="1565A8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100% Procedural Synthesis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253288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Entire 3D world generated from mathematical equations (Cube, Sphere, Cylinder). Zero external CAD models.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57400"/>
            <a:ext cx="5394960" cy="1325880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167128"/>
            <a:ext cx="506577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B3A5C"/>
                </a:solidFill>
                <a:latin typeface="Calibri"/>
              </a:defRPr>
            </a:pPr>
            <a:r>
              <a:t>2. Multi-Source Illumination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3288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Directional sunlight + 6 distance-attenuated point lights with runtime Gouraud &amp; Phong shading toggles.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520440"/>
            <a:ext cx="5394960" cy="1325880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3630168"/>
            <a:ext cx="506577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 b="1">
                <a:solidFill>
                  <a:srgbClr val="DC641E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Dynamic Kinematics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399592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Smooth exponential door rotation, compound oscillating table fan, and 3-zone portal collision logic.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520440"/>
            <a:ext cx="5394960" cy="1325880"/>
          </a:xfrm>
          <a:prstGeom prst="rect">
            <a:avLst/>
          </a:prstGeom>
          <a:solidFill>
            <a:srgbClr val="F8FAFC"/>
          </a:solidFill>
          <a:ln w="15240"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3630168"/>
            <a:ext cx="506577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 b="1">
                <a:solidFill>
                  <a:srgbClr val="1565A8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4. Real-Time Performance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0" y="399592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D3C"/>
                </a:solidFill>
                <a:latin typeface="Calibri"/>
              </a:defRPr>
            </a:pPr>
            <a:r>
              <a:t>Stable 60.0 FPS rendering performance (under 2.10 ms GPU frame time) in Core Profile OpenGL 3.3.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166360"/>
            <a:ext cx="1051560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1B3A5C"/>
                </a:solidFill>
                <a:latin typeface="Calibri"/>
              </a:defRPr>
            </a:pPr>
            <a:r>
              <a:rPr lang="en-US" sz="1500" b="1" dirty="0">
                <a:solidFill>
                  <a:srgbClr val="1B3A5C"/>
                </a:solidFill>
                <a:ea typeface="Calibri"/>
                <a:cs typeface="Calibri"/>
              </a:rPr>
              <a:t>Video Link : </a:t>
            </a:r>
            <a:r>
              <a:rPr lang="en-US" sz="1500" b="1" dirty="0">
                <a:solidFill>
                  <a:srgbClr val="1B3A5C"/>
                </a:solidFill>
                <a:ea typeface="Calibri"/>
                <a:cs typeface="Calibri"/>
                <a:hlinkClick r:id="rId2"/>
              </a:rPr>
              <a:t>https://drive.google.com/drive/u/3/folders/1h7po6C9BaP7nm4oYQ_sWZM2QsQHm7IGa</a:t>
            </a:r>
            <a:endParaRPr lang="en-US" sz="1500" b="1">
              <a:solidFill>
                <a:srgbClr val="1B3A5C"/>
              </a:solidFill>
              <a:ea typeface="Calibri"/>
              <a:cs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94360" y="6446520"/>
            <a:ext cx="11002975" cy="18288"/>
          </a:xfrm>
          <a:prstGeom prst="rect">
            <a:avLst/>
          </a:prstGeom>
          <a:solidFill>
            <a:srgbClr val="B4C3D4"/>
          </a:solidFill>
          <a:ln>
            <a:solidFill>
              <a:srgbClr val="B4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492240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05F6E"/>
                </a:solidFill>
                <a:latin typeface="Calibri"/>
              </a:defRPr>
            </a:pPr>
            <a:r>
              <a:t>Dept of CSE, KUET  ·  October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92240"/>
            <a:ext cx="3657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505F6E"/>
                </a:solidFill>
                <a:latin typeface="Calibri"/>
              </a:defRPr>
            </a:pPr>
            <a:r>
              <a:t>CSE 4102: Computer Graphics &amp; Image Processing Lab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492240"/>
            <a:ext cx="199613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565A8"/>
                </a:solidFill>
                <a:latin typeface="Calibr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120</cp:revision>
  <dcterms:created xsi:type="dcterms:W3CDTF">2013-01-27T09:14:16Z</dcterms:created>
  <dcterms:modified xsi:type="dcterms:W3CDTF">2026-10-07T06:20:54Z</dcterms:modified>
  <cp:category/>
</cp:coreProperties>
</file>